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16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7104063" cy="102346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ru-R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167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ru-R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&lt;заголовок&gt;</a:t>
            </a:r>
          </a:p>
        </p:txBody>
      </p:sp>
      <p:sp>
        <p:nvSpPr>
          <p:cNvPr id="168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ru-R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&lt;дата/время&gt;</a:t>
            </a:r>
          </a:p>
        </p:txBody>
      </p:sp>
      <p:sp>
        <p:nvSpPr>
          <p:cNvPr id="169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ru-R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&lt;нижний колонтитул&gt;</a:t>
            </a:r>
          </a:p>
        </p:txBody>
      </p:sp>
      <p:sp>
        <p:nvSpPr>
          <p:cNvPr id="170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461001F0-FEB4-48E8-826A-AA8BE05ED4FC}" type="slidenum">
              <a:rPr lang="ru-RU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ru-RU" sz="1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600" cy="402840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8" name="CustomShape 2"/>
          <p:cNvSpPr/>
          <p:nvPr/>
        </p:nvSpPr>
        <p:spPr>
          <a:xfrm>
            <a:off x="4024440" y="9721800"/>
            <a:ext cx="3077280" cy="51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body"/>
          </p:nvPr>
        </p:nvSpPr>
        <p:spPr>
          <a:xfrm>
            <a:off x="711360" y="4925880"/>
            <a:ext cx="5682600" cy="402840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0" name="CustomShape 2"/>
          <p:cNvSpPr/>
          <p:nvPr/>
        </p:nvSpPr>
        <p:spPr>
          <a:xfrm>
            <a:off x="4024440" y="9721800"/>
            <a:ext cx="3077280" cy="51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Рисунок 40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42" name="Рисунок 41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1" name="Рисунок 80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82" name="Рисунок 81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21" name="Рисунок 120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22" name="Рисунок 121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44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320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64" name="Рисунок 163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65" name="Рисунок 164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 hidden="1"/>
          <p:cNvSpPr/>
          <p:nvPr/>
        </p:nvSpPr>
        <p:spPr>
          <a:xfrm>
            <a:off x="0" y="0"/>
            <a:ext cx="12186360" cy="685656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</a:schemeClr>
              </a:gs>
              <a:gs pos="100000">
                <a:schemeClr val="accent1">
                  <a:lumMod val="1500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pic>
        <p:nvPicPr>
          <p:cNvPr id="10" name="图片 6"/>
          <p:cNvPicPr/>
          <p:nvPr/>
        </p:nvPicPr>
        <p:blipFill>
          <a:blip r:embed="rId14"/>
          <a:srcRect t="40677" r="35" b="26268"/>
          <a:stretch/>
        </p:blipFill>
        <p:spPr>
          <a:xfrm>
            <a:off x="0" y="4589640"/>
            <a:ext cx="12186720" cy="2267640"/>
          </a:xfrm>
          <a:prstGeom prst="rect">
            <a:avLst/>
          </a:prstGeom>
          <a:ln>
            <a:noFill/>
          </a:ln>
        </p:spPr>
      </p:pic>
      <p:pic>
        <p:nvPicPr>
          <p:cNvPr id="2" name="图片 9"/>
          <p:cNvPicPr/>
          <p:nvPr/>
        </p:nvPicPr>
        <p:blipFill>
          <a:blip r:embed="rId15"/>
          <a:srcRect l="32" t="40682" r="3" b="26268"/>
          <a:stretch/>
        </p:blipFill>
        <p:spPr>
          <a:xfrm>
            <a:off x="0" y="4589640"/>
            <a:ext cx="12186720" cy="2267640"/>
          </a:xfrm>
          <a:prstGeom prst="rect">
            <a:avLst/>
          </a:prstGeom>
          <a:ln>
            <a:noFill/>
          </a:ln>
        </p:spPr>
      </p:pic>
      <p:sp>
        <p:nvSpPr>
          <p:cNvPr id="3" name="CustomShape 2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CustomShape 3"/>
          <p:cNvSpPr/>
          <p:nvPr/>
        </p:nvSpPr>
        <p:spPr>
          <a:xfrm>
            <a:off x="0" y="0"/>
            <a:ext cx="12186360" cy="685656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</a:schemeClr>
              </a:gs>
              <a:gs pos="100000">
                <a:schemeClr val="accent1">
                  <a:lumMod val="1500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pic>
        <p:nvPicPr>
          <p:cNvPr id="5" name="图片 8"/>
          <p:cNvPicPr/>
          <p:nvPr/>
        </p:nvPicPr>
        <p:blipFill>
          <a:blip r:embed="rId16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</p:pic>
      <p:pic>
        <p:nvPicPr>
          <p:cNvPr id="6" name="图片 9"/>
          <p:cNvPicPr/>
          <p:nvPr/>
        </p:nvPicPr>
        <p:blipFill>
          <a:blip r:embed="rId17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</p:pic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ru-RU" sz="44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Для правки текста заголовка щёлкните мышью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Второй уровень структуры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Третий уровень структуры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Пятый уровень структуры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Шестой уровень структуры</a:t>
            </a:r>
          </a:p>
          <a:p>
            <a:pPr marL="3024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0" y="0"/>
            <a:ext cx="12186360" cy="685656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</a:schemeClr>
              </a:gs>
              <a:gs pos="100000">
                <a:schemeClr val="accent1">
                  <a:lumMod val="1500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pic>
        <p:nvPicPr>
          <p:cNvPr id="44" name="图片 6"/>
          <p:cNvPicPr/>
          <p:nvPr/>
        </p:nvPicPr>
        <p:blipFill>
          <a:blip r:embed="rId14"/>
          <a:srcRect t="40677" r="35" b="26268"/>
          <a:stretch/>
        </p:blipFill>
        <p:spPr>
          <a:xfrm>
            <a:off x="0" y="4589640"/>
            <a:ext cx="12186720" cy="2267640"/>
          </a:xfrm>
          <a:prstGeom prst="rect">
            <a:avLst/>
          </a:prstGeom>
          <a:ln>
            <a:noFill/>
          </a:ln>
        </p:spPr>
      </p:pic>
      <p:pic>
        <p:nvPicPr>
          <p:cNvPr id="45" name="图片 9"/>
          <p:cNvPicPr/>
          <p:nvPr/>
        </p:nvPicPr>
        <p:blipFill>
          <a:blip r:embed="rId15"/>
          <a:srcRect l="32" t="40682" r="3" b="26268"/>
          <a:stretch/>
        </p:blipFill>
        <p:spPr>
          <a:xfrm>
            <a:off x="0" y="4589640"/>
            <a:ext cx="12186720" cy="2267640"/>
          </a:xfrm>
          <a:prstGeom prst="rect">
            <a:avLst/>
          </a:prstGeom>
          <a:ln>
            <a:noFill/>
          </a:ln>
        </p:spPr>
      </p:pic>
      <p:sp>
        <p:nvSpPr>
          <p:cNvPr id="46" name="CustomShape 2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ru-RU" sz="44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Для правки текста заголовка щёлкните мышью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Второй уровень структуры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Третий уровень структуры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Пятый уровень структуры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Шестой уровень структуры</a:t>
            </a:r>
          </a:p>
          <a:p>
            <a:pPr marL="3024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0"/>
            <a:ext cx="12186360" cy="685656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</a:schemeClr>
              </a:gs>
              <a:gs pos="100000">
                <a:schemeClr val="accent1">
                  <a:lumMod val="1500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pic>
        <p:nvPicPr>
          <p:cNvPr id="84" name="图片 6"/>
          <p:cNvPicPr/>
          <p:nvPr/>
        </p:nvPicPr>
        <p:blipFill>
          <a:blip r:embed="rId14"/>
          <a:srcRect t="40677" r="35" b="26268"/>
          <a:stretch/>
        </p:blipFill>
        <p:spPr>
          <a:xfrm>
            <a:off x="0" y="4589640"/>
            <a:ext cx="12186720" cy="2267640"/>
          </a:xfrm>
          <a:prstGeom prst="rect">
            <a:avLst/>
          </a:prstGeom>
          <a:ln>
            <a:noFill/>
          </a:ln>
        </p:spPr>
      </p:pic>
      <p:pic>
        <p:nvPicPr>
          <p:cNvPr id="85" name="图片 9"/>
          <p:cNvPicPr/>
          <p:nvPr/>
        </p:nvPicPr>
        <p:blipFill>
          <a:blip r:embed="rId15"/>
          <a:srcRect l="32" t="40682" r="3" b="26268"/>
          <a:stretch/>
        </p:blipFill>
        <p:spPr>
          <a:xfrm>
            <a:off x="0" y="4589640"/>
            <a:ext cx="12186720" cy="2267640"/>
          </a:xfrm>
          <a:prstGeom prst="rect">
            <a:avLst/>
          </a:prstGeom>
          <a:ln>
            <a:noFill/>
          </a:ln>
        </p:spPr>
      </p:pic>
      <p:sp>
        <p:nvSpPr>
          <p:cNvPr id="86" name="CustomShape 2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ru-RU" sz="44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Для правки текста заголовка щёлкните мышью</a:t>
            </a: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Второй уровень структуры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Третий уровень структуры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Пятый уровень структуры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Шестой уровень структуры</a:t>
            </a:r>
          </a:p>
          <a:p>
            <a:pPr marL="3024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 hidden="1"/>
          <p:cNvSpPr/>
          <p:nvPr/>
        </p:nvSpPr>
        <p:spPr>
          <a:xfrm>
            <a:off x="0" y="0"/>
            <a:ext cx="12186360" cy="685656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</a:schemeClr>
              </a:gs>
              <a:gs pos="100000">
                <a:schemeClr val="accent1">
                  <a:lumMod val="1500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pic>
        <p:nvPicPr>
          <p:cNvPr id="124" name="图片 6"/>
          <p:cNvPicPr/>
          <p:nvPr/>
        </p:nvPicPr>
        <p:blipFill>
          <a:blip r:embed="rId14"/>
          <a:srcRect t="40677" r="35" b="26268"/>
          <a:stretch/>
        </p:blipFill>
        <p:spPr>
          <a:xfrm>
            <a:off x="0" y="4589640"/>
            <a:ext cx="12186720" cy="2267640"/>
          </a:xfrm>
          <a:prstGeom prst="rect">
            <a:avLst/>
          </a:prstGeom>
          <a:ln>
            <a:noFill/>
          </a:ln>
        </p:spPr>
      </p:pic>
      <p:pic>
        <p:nvPicPr>
          <p:cNvPr id="125" name="图片 9"/>
          <p:cNvPicPr/>
          <p:nvPr/>
        </p:nvPicPr>
        <p:blipFill>
          <a:blip r:embed="rId15"/>
          <a:srcRect l="32" t="40682" r="3" b="26268"/>
          <a:stretch/>
        </p:blipFill>
        <p:spPr>
          <a:xfrm>
            <a:off x="0" y="4589640"/>
            <a:ext cx="12186720" cy="2267640"/>
          </a:xfrm>
          <a:prstGeom prst="rect">
            <a:avLst/>
          </a:prstGeom>
          <a:ln>
            <a:noFill/>
          </a:ln>
        </p:spPr>
      </p:pic>
      <p:sp>
        <p:nvSpPr>
          <p:cNvPr id="126" name="CustomShape 2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7" name="CustomShape 3"/>
          <p:cNvSpPr/>
          <p:nvPr/>
        </p:nvSpPr>
        <p:spPr>
          <a:xfrm>
            <a:off x="0" y="0"/>
            <a:ext cx="12186360" cy="685656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</a:schemeClr>
              </a:gs>
              <a:gs pos="100000">
                <a:schemeClr val="accent1">
                  <a:lumMod val="1500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/>
        </p:style>
      </p:sp>
      <p:pic>
        <p:nvPicPr>
          <p:cNvPr id="128" name="图片 6"/>
          <p:cNvPicPr/>
          <p:nvPr/>
        </p:nvPicPr>
        <p:blipFill>
          <a:blip r:embed="rId14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</p:pic>
      <p:pic>
        <p:nvPicPr>
          <p:cNvPr id="129" name="图片 13"/>
          <p:cNvPicPr/>
          <p:nvPr/>
        </p:nvPicPr>
        <p:blipFill>
          <a:blip r:embed="rId16"/>
          <a:stretch/>
        </p:blipFill>
        <p:spPr>
          <a:xfrm>
            <a:off x="0" y="360"/>
            <a:ext cx="12191400" cy="6857280"/>
          </a:xfrm>
          <a:prstGeom prst="rect">
            <a:avLst/>
          </a:prstGeom>
          <a:ln>
            <a:noFill/>
          </a:ln>
        </p:spPr>
      </p:pic>
      <p:sp>
        <p:nvSpPr>
          <p:cNvPr id="13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ru-RU" sz="44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Для правки текста заголовка щёлкните мышью</a:t>
            </a: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8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Второй уровень структуры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Третий уровень структуры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Пятый уровень структуры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Шестой уровень структуры</a:t>
            </a:r>
          </a:p>
          <a:p>
            <a:pPr marL="3024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730080" y="1458707"/>
            <a:ext cx="10727640" cy="245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 algn="ctr"/>
            <a:r>
              <a:rPr lang="ru-RU" sz="44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Разработка системы управления умными устройствами на языке программирования </a:t>
            </a:r>
            <a:r>
              <a:rPr lang="ru-RU" sz="4400" b="1" strike="noStrike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Python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2" name="CustomShape 2"/>
          <p:cNvSpPr/>
          <p:nvPr/>
        </p:nvSpPr>
        <p:spPr>
          <a:xfrm>
            <a:off x="1014840" y="4011093"/>
            <a:ext cx="10158120" cy="597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ru-RU" sz="20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Выпускная квалификационная работа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3" name="CustomShape 3"/>
          <p:cNvSpPr/>
          <p:nvPr/>
        </p:nvSpPr>
        <p:spPr>
          <a:xfrm>
            <a:off x="1014840" y="4676580"/>
            <a:ext cx="10504800" cy="144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ru-RU" sz="18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Студент</a:t>
            </a:r>
            <a:r>
              <a:rPr lang="en-US" sz="18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: </a:t>
            </a:r>
            <a:r>
              <a:rPr lang="ru-RU" sz="18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Бугаев Е.В., Курс  4,  группа  ИП-212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Руководитель: Николаенко И.Д.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4" name="CustomShape 4"/>
          <p:cNvSpPr/>
          <p:nvPr/>
        </p:nvSpPr>
        <p:spPr>
          <a:xfrm>
            <a:off x="1016940" y="6598272"/>
            <a:ext cx="10158120" cy="23898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ru-RU" sz="1200" strike="noStrike" spc="-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Ставрополь, 2025</a:t>
            </a:r>
            <a:endParaRPr lang="ru-RU" sz="1800" strike="noStrike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CustomShape 2"/>
          <p:cNvSpPr/>
          <p:nvPr/>
        </p:nvSpPr>
        <p:spPr>
          <a:xfrm>
            <a:off x="1014840" y="259728"/>
            <a:ext cx="10158120" cy="597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algn="ctr">
              <a:lnSpc>
                <a:spcPct val="100000"/>
              </a:lnSpc>
            </a:pPr>
            <a:r>
              <a:rPr lang="ru-RU" sz="16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Министерство энергетики, промышленности и связи Ставропольского края</a:t>
            </a:r>
            <a:endParaRPr lang="ru-RU" sz="16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  <a:p>
            <a:pPr algn="ctr">
              <a:lnSpc>
                <a:spcPct val="100000"/>
              </a:lnSpc>
            </a:pPr>
            <a:r>
              <a:rPr lang="ru-RU" sz="16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ГБПОУ «Ставропольский колледж связи имени Героя Советского Союза В.А. Петрова»</a:t>
            </a:r>
            <a:endParaRPr lang="ru-RU" sz="16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695880" y="360000"/>
            <a:ext cx="10799280" cy="71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r>
              <a:rPr lang="ru-RU" sz="3200" b="1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Основные</a:t>
            </a:r>
            <a:r>
              <a:rPr lang="ru-RU" sz="2800" b="1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 виды деятельности </a:t>
            </a:r>
            <a:r>
              <a:rPr lang="ru-RU" sz="28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ООО "Оникс"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695880" y="1301760"/>
            <a:ext cx="10799280" cy="487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Установка систем пожарной безопасности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Обслуживание систем пожарной безопасности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Установка и обслуживание охранных сигнализаций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图片 1"/>
          <p:cNvPicPr/>
          <p:nvPr/>
        </p:nvPicPr>
        <p:blipFill>
          <a:blip r:embed="rId3"/>
          <a:srcRect t="1096" b="1096"/>
          <a:stretch/>
        </p:blipFill>
        <p:spPr>
          <a:xfrm>
            <a:off x="6205680" y="990720"/>
            <a:ext cx="5290200" cy="51746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78" name="CustomShape 1"/>
          <p:cNvSpPr/>
          <p:nvPr/>
        </p:nvSpPr>
        <p:spPr>
          <a:xfrm>
            <a:off x="813600" y="1330200"/>
            <a:ext cx="5032800" cy="134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150000"/>
              </a:lnSpc>
            </a:pPr>
            <a:r>
              <a:rPr lang="ru-RU" sz="20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Упрощение управления умными устройствами с помощью голосового помощника</a:t>
            </a:r>
            <a:endParaRPr lang="ru-RU" sz="20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9" name="CustomShape 2"/>
          <p:cNvSpPr/>
          <p:nvPr/>
        </p:nvSpPr>
        <p:spPr>
          <a:xfrm>
            <a:off x="813600" y="635040"/>
            <a:ext cx="3357000" cy="52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Цель</a:t>
            </a:r>
            <a:endParaRPr lang="ru-RU" sz="32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0" name="CustomShape 3"/>
          <p:cNvSpPr/>
          <p:nvPr/>
        </p:nvSpPr>
        <p:spPr>
          <a:xfrm>
            <a:off x="695880" y="2828880"/>
            <a:ext cx="5150520" cy="59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Задачи</a:t>
            </a:r>
            <a:endParaRPr lang="ru-RU" sz="32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1" name="CustomShape 4"/>
          <p:cNvSpPr/>
          <p:nvPr/>
        </p:nvSpPr>
        <p:spPr>
          <a:xfrm>
            <a:off x="695880" y="3656160"/>
            <a:ext cx="5509080" cy="258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57240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ru-RU" sz="20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Изучить существующие системы и технологии</a:t>
            </a:r>
            <a:endParaRPr lang="ru-RU" sz="20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7240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ru-RU" sz="20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Спроектировать модульную архитектуру</a:t>
            </a:r>
            <a:endParaRPr lang="ru-RU" sz="20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7240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ru-RU" sz="20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Реализовать распознавание речи</a:t>
            </a:r>
            <a:endParaRPr lang="ru-RU" sz="20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7240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ru-RU" sz="20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Интегрировать управление устройствами через API</a:t>
            </a:r>
            <a:endParaRPr lang="ru-RU" sz="20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7240" indent="-285120">
              <a:lnSpc>
                <a:spcPct val="15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lang="ru-RU" sz="20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Провести тестирование системы</a:t>
            </a:r>
            <a:endParaRPr lang="ru-RU" sz="20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695880" y="360000"/>
            <a:ext cx="10799280" cy="5266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 algn="ctr"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Обзор предметной области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>
            <a:off x="2042910" y="1245630"/>
            <a:ext cx="8105220" cy="15128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720">
              <a:lnSpc>
                <a:spcPct val="100000"/>
              </a:lnSpc>
              <a:buClr>
                <a:srgbClr val="FFFFFF"/>
              </a:buClr>
            </a:pPr>
            <a:r>
              <a:rPr lang="ru-RU" sz="28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Существующие системы</a:t>
            </a:r>
            <a:endParaRPr lang="ru-RU" sz="2800" b="1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Google</a:t>
            </a: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lang="ru-RU" sz="2400" strike="noStrike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Home</a:t>
            </a: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: Широкая поддержка, требует интернета</a:t>
            </a:r>
            <a:endParaRPr lang="ru-RU" sz="24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Amazon</a:t>
            </a: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lang="ru-RU" sz="2400" strike="noStrike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Alexa</a:t>
            </a: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: Гибкость, ограничен </a:t>
            </a:r>
            <a:r>
              <a:rPr lang="ru-RU" sz="2400" strike="noStrike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оффлайн</a:t>
            </a:r>
            <a:endParaRPr lang="ru-RU" sz="24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Яндекс Станция: Интеграция с </a:t>
            </a:r>
            <a:r>
              <a:rPr lang="ru-RU" sz="2400" strike="noStrike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IoT</a:t>
            </a: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, платные подписки</a:t>
            </a:r>
            <a:endParaRPr lang="ru-RU" sz="24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322175" y="2934714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marL="720">
              <a:lnSpc>
                <a:spcPct val="100000"/>
              </a:lnSpc>
              <a:buClr>
                <a:srgbClr val="FFFFFF"/>
              </a:buClr>
            </a:pPr>
            <a:r>
              <a:rPr lang="ru-RU" sz="2800" b="1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Технологии</a:t>
            </a: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r>
              <a:rPr lang="ru-RU" sz="2400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IoT</a:t>
            </a:r>
            <a:endParaRPr lang="ru-RU" sz="24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Wi-Fi</a:t>
            </a:r>
            <a:endParaRPr lang="ru-RU" sz="24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REST API</a:t>
            </a:r>
            <a:endParaRPr lang="ru-RU" sz="24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95880" y="2934714"/>
            <a:ext cx="6096000" cy="2739211"/>
          </a:xfrm>
          <a:prstGeom prst="rect">
            <a:avLst/>
          </a:prstGeom>
        </p:spPr>
        <p:txBody>
          <a:bodyPr>
            <a:spAutoFit/>
          </a:bodyPr>
          <a:lstStyle/>
          <a:p>
            <a:pPr marL="720">
              <a:lnSpc>
                <a:spcPct val="100000"/>
              </a:lnSpc>
              <a:buClr>
                <a:srgbClr val="FFFFFF"/>
              </a:buClr>
            </a:pPr>
            <a:r>
              <a:rPr lang="ru-RU" sz="2800" b="1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Ограничения</a:t>
            </a: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 lang="ru-RU" sz="24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интернет</a:t>
            </a:r>
            <a:endParaRPr lang="ru-RU" sz="24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мало поддерживаемых устройств безопасности</a:t>
            </a:r>
            <a:endParaRPr lang="ru-RU" sz="24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стоимость</a:t>
            </a:r>
            <a:endParaRPr lang="ru-RU" sz="24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отказ работы в РФ</a:t>
            </a:r>
            <a:endParaRPr lang="ru-RU" sz="24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нет взаимодействий с ПК.</a:t>
            </a:r>
            <a:endParaRPr lang="ru-RU" sz="2400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3103477" y="3708835"/>
            <a:ext cx="5081465" cy="6532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Практическая значимость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5" name="CustomShape 2"/>
          <p:cNvSpPr/>
          <p:nvPr/>
        </p:nvSpPr>
        <p:spPr>
          <a:xfrm>
            <a:off x="3103477" y="4362120"/>
            <a:ext cx="7907793" cy="199429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343620" indent="-342900">
              <a:lnSpc>
                <a:spcPct val="130000"/>
              </a:lnSpc>
              <a:buClr>
                <a:srgbClr val="FFFFFF"/>
              </a:buClr>
              <a:buFontTx/>
              <a:buChar char="−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Бесплатная альтернатива умным колонкам</a:t>
            </a:r>
          </a:p>
          <a:p>
            <a:pPr marL="343620" indent="-342900">
              <a:lnSpc>
                <a:spcPct val="130000"/>
              </a:lnSpc>
              <a:buClr>
                <a:srgbClr val="FFFFFF"/>
              </a:buClr>
              <a:buFontTx/>
              <a:buChar char="−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Применение дома, на рабочем месте, далеко от устройств.</a:t>
            </a:r>
          </a:p>
          <a:p>
            <a:pPr marL="343620" indent="-342900">
              <a:lnSpc>
                <a:spcPct val="130000"/>
              </a:lnSpc>
              <a:buClr>
                <a:srgbClr val="FFFFFF"/>
              </a:buClr>
              <a:buFontTx/>
              <a:buChar char="−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Экономия на прослушиваемое оборудование</a:t>
            </a:r>
          </a:p>
        </p:txBody>
      </p:sp>
      <p:sp>
        <p:nvSpPr>
          <p:cNvPr id="186" name="CustomShape 3"/>
          <p:cNvSpPr/>
          <p:nvPr/>
        </p:nvSpPr>
        <p:spPr>
          <a:xfrm>
            <a:off x="695880" y="234360"/>
            <a:ext cx="10799280" cy="71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Актуальность темы</a:t>
            </a:r>
            <a:endParaRPr lang="ru-RU" sz="18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7" name="CustomShape 4"/>
          <p:cNvSpPr/>
          <p:nvPr/>
        </p:nvSpPr>
        <p:spPr>
          <a:xfrm>
            <a:off x="695880" y="1176120"/>
            <a:ext cx="10799280" cy="2529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343620" indent="-342900">
              <a:lnSpc>
                <a:spcPct val="130000"/>
              </a:lnSpc>
              <a:buClr>
                <a:srgbClr val="FFFFFF"/>
              </a:buClr>
              <a:buFontTx/>
              <a:buChar char="−"/>
            </a:pP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Рост рынка умных домов на 25% в год (</a:t>
            </a:r>
            <a:r>
              <a:rPr lang="ru-RU" sz="2400" strike="noStrike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IoT</a:t>
            </a: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 </a:t>
            </a:r>
            <a:r>
              <a:rPr lang="ru-RU" sz="2400" strike="noStrike" spc="-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Analytics</a:t>
            </a: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, 2024)</a:t>
            </a:r>
            <a:endParaRPr lang="ru-RU" sz="24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620" indent="-342900">
              <a:lnSpc>
                <a:spcPct val="130000"/>
              </a:lnSpc>
              <a:buClr>
                <a:srgbClr val="FFFFFF"/>
              </a:buClr>
              <a:buFontTx/>
              <a:buChar char="−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Проблемы существующих систем</a:t>
            </a: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Зависимость от платной подписки</a:t>
            </a:r>
            <a:endParaRPr lang="ru-RU" sz="24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Необходимость умной колонки</a:t>
            </a:r>
            <a:endParaRPr lang="ru-RU" sz="24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Высокая стоимость оборудования</a:t>
            </a:r>
            <a:endParaRPr lang="ru-RU" sz="2400" strike="noStrike" spc="-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620" indent="-342900">
              <a:lnSpc>
                <a:spcPct val="130000"/>
              </a:lnSpc>
              <a:buClr>
                <a:srgbClr val="FFFFFF"/>
              </a:buClr>
              <a:buFontTx/>
              <a:buChar char="−"/>
            </a:pPr>
            <a:r>
              <a:rPr lang="ru-RU" sz="2400" spc="-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>
                  <a:solidFill>
                    <a:srgbClr val="FFFFFF"/>
                  </a:solidFill>
                </a:uFill>
                <a:latin typeface="Times New Roman"/>
              </a:rPr>
              <a:t>Необходимость доступного, автономного решения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1"/>
          <p:cNvSpPr/>
          <p:nvPr/>
        </p:nvSpPr>
        <p:spPr>
          <a:xfrm>
            <a:off x="695880" y="360000"/>
            <a:ext cx="10799280" cy="71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 algn="ctr"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Инструменты разработки</a:t>
            </a:r>
            <a:endParaRPr lang="ru-RU" sz="18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3658500" y="2538358"/>
            <a:ext cx="5925240" cy="282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720">
              <a:lnSpc>
                <a:spcPct val="100000"/>
              </a:lnSpc>
              <a:buClr>
                <a:srgbClr val="FFFFFF"/>
              </a:buClr>
            </a:pPr>
            <a:r>
              <a:rPr lang="ru-RU" sz="28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Библиотеки</a:t>
            </a:r>
            <a:endParaRPr lang="ru-RU" sz="28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Голосовое управление (</a:t>
            </a: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Vosk</a:t>
            </a: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)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Работа с аудио потоками (</a:t>
            </a: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PyAudio</a:t>
            </a: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)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Выбор устройств ПК(</a:t>
            </a: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sounddevice</a:t>
            </a: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)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Графический интерфейс (PyQt6)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API-интеграция (</a:t>
            </a: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requests</a:t>
            </a: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)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Быстрые числовые вычисления (</a:t>
            </a: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numpy</a:t>
            </a: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)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695880" y="1302480"/>
            <a:ext cx="5925240" cy="282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228600" indent="-22788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Python</a:t>
            </a: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: простота, экосистема библиотек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Visual</a:t>
            </a: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 </a:t>
            </a: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Studio</a:t>
            </a: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 </a:t>
            </a: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Code</a:t>
            </a: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: бесплатная IDE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Line 1"/>
          <p:cNvSpPr/>
          <p:nvPr/>
        </p:nvSpPr>
        <p:spPr>
          <a:xfrm flipV="1">
            <a:off x="698138" y="3147152"/>
            <a:ext cx="12076" cy="336528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92" name="图片 2"/>
          <p:cNvPicPr/>
          <p:nvPr/>
        </p:nvPicPr>
        <p:blipFill>
          <a:blip r:embed="rId2"/>
          <a:srcRect t="5944"/>
          <a:stretch/>
        </p:blipFill>
        <p:spPr>
          <a:xfrm>
            <a:off x="830258" y="3147153"/>
            <a:ext cx="2943720" cy="3365280"/>
          </a:xfrm>
          <a:prstGeom prst="rect">
            <a:avLst/>
          </a:prstGeom>
          <a:ln w="3240">
            <a:solidFill>
              <a:schemeClr val="tx1">
                <a:lumMod val="40000"/>
                <a:lumOff val="60000"/>
                <a:alpha val="20000"/>
              </a:schemeClr>
            </a:solidFill>
            <a:round/>
          </a:ln>
        </p:spPr>
      </p:pic>
      <p:pic>
        <p:nvPicPr>
          <p:cNvPr id="193" name="Изображение 1"/>
          <p:cNvPicPr/>
          <p:nvPr/>
        </p:nvPicPr>
        <p:blipFill>
          <a:blip r:embed="rId3"/>
          <a:srcRect t="6602"/>
          <a:stretch/>
        </p:blipFill>
        <p:spPr>
          <a:xfrm>
            <a:off x="7297920" y="3147153"/>
            <a:ext cx="4686262" cy="3365280"/>
          </a:xfrm>
          <a:prstGeom prst="rect">
            <a:avLst/>
          </a:prstGeom>
          <a:ln>
            <a:noFill/>
          </a:ln>
        </p:spPr>
      </p:pic>
      <p:pic>
        <p:nvPicPr>
          <p:cNvPr id="194" name="Изображение 3"/>
          <p:cNvPicPr/>
          <p:nvPr/>
        </p:nvPicPr>
        <p:blipFill>
          <a:blip r:embed="rId4"/>
          <a:srcRect l="1421" t="5312"/>
          <a:stretch/>
        </p:blipFill>
        <p:spPr>
          <a:xfrm>
            <a:off x="4049803" y="3147153"/>
            <a:ext cx="2929320" cy="3365280"/>
          </a:xfrm>
          <a:prstGeom prst="rect">
            <a:avLst/>
          </a:prstGeom>
          <a:ln>
            <a:noFill/>
          </a:ln>
        </p:spPr>
      </p:pic>
      <p:sp>
        <p:nvSpPr>
          <p:cNvPr id="195" name="Line 2"/>
          <p:cNvSpPr/>
          <p:nvPr/>
        </p:nvSpPr>
        <p:spPr>
          <a:xfrm flipH="1" flipV="1">
            <a:off x="3906097" y="3147152"/>
            <a:ext cx="34277" cy="336528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Line 3"/>
          <p:cNvSpPr/>
          <p:nvPr/>
        </p:nvSpPr>
        <p:spPr>
          <a:xfrm flipV="1">
            <a:off x="7145520" y="3147151"/>
            <a:ext cx="20280" cy="3365281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7" name="CustomShape 4"/>
          <p:cNvSpPr/>
          <p:nvPr/>
        </p:nvSpPr>
        <p:spPr>
          <a:xfrm>
            <a:off x="534600" y="1082825"/>
            <a:ext cx="11297182" cy="20643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16000" indent="-2156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 Главная страница: лицо помощника, навигационные кнопки, появление кнопки включения прослушивания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 Страница настроек: выбор аудио устройств, </a:t>
            </a: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токен</a:t>
            </a: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, чувствительность микрофона и музыки со шкалой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 Страница устройств: список, поиск, редактирование устройств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8" name="CustomShape 5"/>
          <p:cNvSpPr/>
          <p:nvPr/>
        </p:nvSpPr>
        <p:spPr>
          <a:xfrm>
            <a:off x="534600" y="354986"/>
            <a:ext cx="10799280" cy="7278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Дизайн интерфейса</a:t>
            </a:r>
            <a:endParaRPr lang="ru-RU" sz="18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"/>
          <p:cNvSpPr/>
          <p:nvPr/>
        </p:nvSpPr>
        <p:spPr>
          <a:xfrm>
            <a:off x="695880" y="360000"/>
            <a:ext cx="10799280" cy="71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 algn="ctr"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Функции программы</a:t>
            </a:r>
          </a:p>
          <a:p>
            <a:pPr algn="ctr">
              <a:lnSpc>
                <a:spcPct val="100000"/>
              </a:lnSpc>
            </a:pPr>
            <a:endParaRPr lang="ru-RU" sz="18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0" name="CustomShape 2"/>
          <p:cNvSpPr/>
          <p:nvPr/>
        </p:nvSpPr>
        <p:spPr>
          <a:xfrm>
            <a:off x="695880" y="1302480"/>
            <a:ext cx="5925240" cy="49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228600" indent="-22788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Голосовое управление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Анимация и голос ассистента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Выключение, включение лампочки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Смена цвета, температуры, яркости лампочки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CustomShape 2"/>
          <p:cNvSpPr/>
          <p:nvPr/>
        </p:nvSpPr>
        <p:spPr>
          <a:xfrm>
            <a:off x="6621120" y="1302480"/>
            <a:ext cx="5925240" cy="494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228600" indent="-22788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Режим ритма лампочки под музыку с комнаты или динамиков.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Режим дыхания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3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Отмена режимов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695880" y="137880"/>
            <a:ext cx="10799280" cy="71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 algn="ctr"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Результаты тестирования</a:t>
            </a:r>
          </a:p>
          <a:p>
            <a:pPr algn="ctr">
              <a:lnSpc>
                <a:spcPct val="100000"/>
              </a:lnSpc>
            </a:pPr>
            <a:endParaRPr lang="ru-RU" sz="18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695880" y="857880"/>
            <a:ext cx="8278920" cy="555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720">
              <a:lnSpc>
                <a:spcPct val="130000"/>
              </a:lnSpc>
              <a:buClr>
                <a:srgbClr val="FFFFFF"/>
              </a:buClr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Голос: 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Распознавание команд: Успех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44556" y="4566844"/>
            <a:ext cx="6344516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20">
              <a:lnSpc>
                <a:spcPct val="130000"/>
              </a:lnSpc>
              <a:buClr>
                <a:srgbClr val="FFFFFF"/>
              </a:buClr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Настройки: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Сохранение настроек:  Успех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Изменение чувствительности ритма: Успех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287491" y="85716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720">
              <a:lnSpc>
                <a:spcPct val="100000"/>
              </a:lnSpc>
              <a:buClr>
                <a:srgbClr val="FFFFFF"/>
              </a:buClr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Голосовой помощник: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Анимации: Успех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Голосовые реакции: Успех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44556" y="1982705"/>
            <a:ext cx="6096000" cy="24191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720">
              <a:lnSpc>
                <a:spcPct val="130000"/>
              </a:lnSpc>
              <a:buClr>
                <a:srgbClr val="FFFFFF"/>
              </a:buClr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Управление: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Включение/выключение: Успех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Цвет, яркость, режимы: Успех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Отправка сообщений об ошибках: Успех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Правильное выключение и отмена режимов: Успех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287491" y="2361270"/>
            <a:ext cx="306096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20">
              <a:buClr>
                <a:srgbClr val="FFFFFF"/>
              </a:buClr>
            </a:pPr>
            <a:r>
              <a:rPr lang="ru-RU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Интерфейс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Nunito Sans"/>
              </a:rPr>
              <a:t>: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  <a:ea typeface="Nunito Sans"/>
            </a:endParaRPr>
          </a:p>
          <a:p>
            <a:pPr marL="538560" lvl="1" indent="-205560">
              <a:buClr>
                <a:srgbClr val="FFFFFF"/>
              </a:buClr>
              <a:buFont typeface="Arial"/>
              <a:buChar char="•"/>
            </a:pPr>
            <a:r>
              <a:rPr lang="ru-RU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Навигация: Успех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695880" y="360000"/>
            <a:ext cx="10799280" cy="71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 algn="ctr">
              <a:lnSpc>
                <a:spcPct val="100000"/>
              </a:lnSpc>
            </a:pPr>
            <a:r>
              <a:rPr lang="ru-RU" sz="32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Выводы</a:t>
            </a:r>
            <a:endParaRPr lang="ru-RU" sz="18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4" name="CustomShape 2"/>
          <p:cNvSpPr/>
          <p:nvPr/>
        </p:nvSpPr>
        <p:spPr>
          <a:xfrm>
            <a:off x="3866995" y="1421003"/>
            <a:ext cx="5594084" cy="11366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720">
              <a:lnSpc>
                <a:spcPct val="100000"/>
              </a:lnSpc>
              <a:buClr>
                <a:srgbClr val="FFFFFF"/>
              </a:buClr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Достижения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Автономное голосовое управление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Интеграция с </a:t>
            </a:r>
            <a:r>
              <a:rPr lang="ru-RU" sz="240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IoT</a:t>
            </a:r>
            <a:endParaRPr lang="ru-RU" sz="24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66995" y="2631828"/>
            <a:ext cx="45304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20">
              <a:lnSpc>
                <a:spcPct val="100000"/>
              </a:lnSpc>
              <a:buClr>
                <a:srgbClr val="FFFFFF"/>
              </a:buClr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Ограничения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Интернет для управления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66995" y="353701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720">
              <a:lnSpc>
                <a:spcPct val="100000"/>
              </a:lnSpc>
              <a:buClr>
                <a:srgbClr val="FFFFFF"/>
              </a:buClr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Перспективы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Расширение функций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  <a:p>
            <a:pPr marL="538560" lvl="1" indent="-20556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40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Поддержка новых устройств</a:t>
            </a:r>
            <a:endParaRPr lang="ru-RU" sz="2400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ustomShape 1"/>
          <p:cNvSpPr/>
          <p:nvPr/>
        </p:nvSpPr>
        <p:spPr>
          <a:xfrm>
            <a:off x="1014840" y="683640"/>
            <a:ext cx="10158120" cy="236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/>
          <a:lstStyle/>
          <a:p>
            <a:pPr algn="ctr">
              <a:lnSpc>
                <a:spcPct val="100000"/>
              </a:lnSpc>
            </a:pPr>
            <a:r>
              <a:rPr lang="ru-RU" sz="40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Спасибо за внимание!</a:t>
            </a:r>
            <a:endParaRPr lang="ru-RU" sz="180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419</Words>
  <Application>Microsoft Office PowerPoint</Application>
  <PresentationFormat>Широкоэкранный</PresentationFormat>
  <Paragraphs>93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admin</cp:lastModifiedBy>
  <cp:revision>38</cp:revision>
  <dcterms:created xsi:type="dcterms:W3CDTF">2025-06-10T17:39:00Z</dcterms:created>
  <dcterms:modified xsi:type="dcterms:W3CDTF">2025-06-11T09:21:12Z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ICV">
    <vt:lpwstr>5E0819E1686C4679B18FDDD8705C582A_13</vt:lpwstr>
  </property>
  <property fmtid="{D5CDD505-2E9C-101B-9397-08002B2CF9AE}" pid="6" name="KSOProductBuildVer">
    <vt:lpwstr>1049-12.2.0.21179</vt:lpwstr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Notes">
    <vt:i4>0</vt:i4>
  </property>
  <property fmtid="{D5CDD505-2E9C-101B-9397-08002B2CF9AE}" pid="10" name="PresentationFormat">
    <vt:lpwstr>宽屏</vt:lpwstr>
  </property>
  <property fmtid="{D5CDD505-2E9C-101B-9397-08002B2CF9AE}" pid="11" name="ScaleCrop">
    <vt:bool>false</vt:bool>
  </property>
  <property fmtid="{D5CDD505-2E9C-101B-9397-08002B2CF9AE}" pid="12" name="ShareDoc">
    <vt:bool>false</vt:bool>
  </property>
  <property fmtid="{D5CDD505-2E9C-101B-9397-08002B2CF9AE}" pid="13" name="Slides">
    <vt:i4>17</vt:i4>
  </property>
</Properties>
</file>